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</a:defRPr>
            </a:pPr>
            <a:r>
              <a:t>📸 FRAMES MOBILE APP</a:t>
            </a:r>
          </a:p>
          <a:p>
            <a:pPr algn="ctr">
              <a:spcBef>
                <a:spcPts val="1400"/>
              </a:spcBef>
              <a:defRPr sz="3200" b="1">
                <a:solidFill>
                  <a:srgbClr val="1A1A1A"/>
                </a:solidFill>
              </a:defRPr>
            </a:pPr>
            <a:r>
              <a:t>Tactile Polaroid Social Scrapbook &amp; Print-on-Demand Architecture</a:t>
            </a:r>
          </a:p>
          <a:p>
            <a:pPr algn="ctr">
              <a:spcBef>
                <a:spcPts val="1600"/>
              </a:spcBef>
              <a:defRPr sz="1400">
                <a:solidFill>
                  <a:srgbClr val="1A1A1A"/>
                </a:solidFill>
              </a:defRPr>
            </a:pPr>
            <a:r>
              <a:t>Complete Project Study Guide: System Architecture, Supabase Database, AdMob &amp; POD API Triggers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6464"/>
                </a:solidFill>
              </a:defRPr>
            </a:pPr>
            <a:r>
              <a:t>FRAMES APP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1A1A"/>
                </a:solidFill>
              </a:defRPr>
            </a:pPr>
            <a:r>
              <a:t>1. Executive Product Vision &amp; Key Differentiators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📸 Tactile Polaroid Scrapbook</a:t>
            </a:r>
          </a:p>
          <a:p>
            <a:pPr>
              <a:spcBef>
                <a:spcPts val="800"/>
              </a:spcBef>
              <a:defRPr sz="1300">
                <a:solidFill>
                  <a:srgbClr val="646464"/>
                </a:solidFill>
              </a:defRPr>
            </a:pPr>
            <a:r>
              <a:t>Users capture daily moments formatted as realistic physical polaroids with film grain, brand avatars, tape pins, and interactive reactions.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📦 $4.99 Daily Memory Packs</a:t>
            </a:r>
          </a:p>
          <a:p>
            <a:pPr>
              <a:spcBef>
                <a:spcPts val="800"/>
              </a:spcBef>
              <a:defRPr sz="1300">
                <a:solidFill>
                  <a:srgbClr val="646464"/>
                </a:solidFill>
              </a:defRPr>
            </a:pPr>
            <a:r>
              <a:t>Automated Print-on-Demand (POD) integration that compiles a user's daily digital frames into physical glossy prints delivered to their doorstep.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📢 AdMob Placement Containers</a:t>
            </a:r>
          </a:p>
          <a:p>
            <a:pPr>
              <a:spcBef>
                <a:spcPts val="800"/>
              </a:spcBef>
              <a:defRPr sz="1300">
                <a:solidFill>
                  <a:srgbClr val="646464"/>
                </a:solidFill>
              </a:defRPr>
            </a:pPr>
            <a:r>
              <a:t>Minimalist ad containers formatted like sponsored polaroids in the feed, supporting Native Banner &amp; Rewarded Video 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93192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🔔 Real-Time Mobile Push Engine</a:t>
            </a:r>
          </a:p>
          <a:p>
            <a:pPr>
              <a:spcBef>
                <a:spcPts val="800"/>
              </a:spcBef>
              <a:defRPr sz="1300">
                <a:solidFill>
                  <a:srgbClr val="646464"/>
                </a:solidFill>
              </a:defRPr>
            </a:pPr>
            <a:r>
              <a:t>OS-level heads-up notification banners for friend requests, direct chat messages, and live order tracking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6464"/>
                </a:solidFill>
              </a:defRPr>
            </a:pPr>
            <a:r>
              <a:t>FRAMES APP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1A1A"/>
                </a:solidFill>
              </a:defRPr>
            </a:pPr>
            <a:r>
              <a:t>2. Full Technical Architecture &amp; Component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1A"/>
                </a:solidFill>
              </a:defRPr>
            </a:pPr>
            <a:r>
              <a:t>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6400"/>
                </a:solidFill>
              </a:defRPr>
            </a:pPr>
            <a:r>
              <a:t>React Native + Expo Router v4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002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Cross-platform iOS/Android app &amp; Web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1A"/>
                </a:solidFill>
              </a:defRPr>
            </a:pPr>
            <a:r>
              <a:t>State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231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6400"/>
                </a:solidFill>
              </a:defRPr>
            </a:pPr>
            <a:r>
              <a:t>Zustand (appStore.ts)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23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Ultra-fast global client state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1A"/>
                </a:solidFill>
              </a:defRPr>
            </a:pPr>
            <a:r>
              <a:t>Database &amp;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461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6400"/>
                </a:solidFill>
              </a:defRPr>
            </a:pPr>
            <a:r>
              <a:t>Supabase (PostgreSQL + RLS)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2461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User auth, daily frames DB, Row-Level Security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1A"/>
                </a:solidFill>
              </a:defRPr>
            </a:pPr>
            <a:r>
              <a:t>Monetization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690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6400"/>
                </a:solidFill>
              </a:defRPr>
            </a:pPr>
            <a:r>
              <a:t>Google AdMob Console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0690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Banner &amp; Rewarded Video ad placements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1A"/>
                </a:solidFill>
              </a:defRPr>
            </a:pPr>
            <a:r>
              <a:t>Push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892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6400"/>
                </a:solidFill>
              </a:defRPr>
            </a:pPr>
            <a:r>
              <a:t>Expo Push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8920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Android high-importance OS notification channels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1A1A"/>
                </a:solidFill>
              </a:defRPr>
            </a:pPr>
            <a:r>
              <a:t>Print Lab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7150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46400"/>
                </a:solidFill>
              </a:defRPr>
            </a:pPr>
            <a:r>
              <a:t>Prodigi / Printo POD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7150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t>Automated order creation &amp; shipping webhook dispatches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6464"/>
                </a:solidFill>
              </a:defRPr>
            </a:pPr>
            <a:r>
              <a:t>FRAMES APP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1A1A"/>
                </a:solidFill>
              </a:defRPr>
            </a:pPr>
            <a:r>
              <a:t>3. Backend PostgreSQL Database Schema &amp;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800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profiles Table</a:t>
            </a:r>
          </a:p>
          <a:p>
            <a:pPr>
              <a:spcBef>
                <a:spcPts val="400"/>
              </a:spcBef>
              <a:defRPr sz="1300">
                <a:solidFill>
                  <a:srgbClr val="646464"/>
                </a:solidFill>
              </a:defRPr>
            </a:pPr>
            <a:r>
              <a:t>Stores user identities, display names, avatars, and push tokens.</a:t>
            </a:r>
          </a:p>
          <a:p>
            <a:pPr>
              <a:spcBef>
                <a:spcPts val="400"/>
              </a:spcBef>
              <a:defRPr sz="1200" b="1">
                <a:solidFill>
                  <a:srgbClr val="1E781E"/>
                </a:solidFill>
              </a:defRPr>
            </a:pPr>
            <a:r>
              <a:t>Columns: id (UUID PK), username, display_name, avatar_url, push_token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72865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101800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frames Table</a:t>
            </a:r>
          </a:p>
          <a:p>
            <a:pPr>
              <a:spcBef>
                <a:spcPts val="400"/>
              </a:spcBef>
              <a:defRPr sz="1300">
                <a:solidFill>
                  <a:srgbClr val="646464"/>
                </a:solidFill>
              </a:defRPr>
            </a:pPr>
            <a:r>
              <a:t>Stores daily captured polaroid photo URLs and captions.</a:t>
            </a:r>
          </a:p>
          <a:p>
            <a:pPr>
              <a:spcBef>
                <a:spcPts val="400"/>
              </a:spcBef>
              <a:defRPr sz="1200" b="1">
                <a:solidFill>
                  <a:srgbClr val="1E781E"/>
                </a:solidFill>
              </a:defRPr>
            </a:pPr>
            <a:r>
              <a:t>Columns: id (UUID PK), user_id (FK), image_url, caption, created_at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101800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print_orders Table</a:t>
            </a:r>
          </a:p>
          <a:p>
            <a:pPr>
              <a:spcBef>
                <a:spcPts val="400"/>
              </a:spcBef>
              <a:defRPr sz="1300">
                <a:solidFill>
                  <a:srgbClr val="646464"/>
                </a:solidFill>
              </a:defRPr>
            </a:pPr>
            <a:r>
              <a:t>Stores physical $4.99 Daily Memory Pack print orders.</a:t>
            </a:r>
          </a:p>
          <a:p>
            <a:pPr>
              <a:spcBef>
                <a:spcPts val="400"/>
              </a:spcBef>
              <a:defRPr sz="1200" b="1">
                <a:solidFill>
                  <a:srgbClr val="1E781E"/>
                </a:solidFill>
              </a:defRPr>
            </a:pPr>
            <a:r>
              <a:t>Columns: id (UUID PK), user_id, photos (JSONB), shipping_address, tracking_number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6464"/>
                </a:solidFill>
              </a:defRPr>
            </a:pPr>
            <a:r>
              <a:t>FRAMES APP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1A1A"/>
                </a:solidFill>
              </a:defRPr>
            </a:pPr>
            <a:r>
              <a:t>4. $4.99 Daily Print Pack API Trigger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</a:defRPr>
            </a:pPr>
            <a:r>
              <a:t>Step 1: Checkout Modal</a:t>
            </a:r>
          </a:p>
          <a:p>
            <a:pPr>
              <a:spcBef>
                <a:spcPts val="1200"/>
              </a:spcBef>
              <a:defRPr sz="1300">
                <a:solidFill>
                  <a:srgbClr val="646464"/>
                </a:solidFill>
              </a:defRPr>
            </a:pPr>
            <a:r>
              <a:t>User opens OrderDailyPackModal.tsx from Archive/Timeline and submits address.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</a:defRPr>
            </a:pPr>
            <a:r>
              <a:t>Step 2: DB Order Creation</a:t>
            </a:r>
          </a:p>
          <a:p>
            <a:pPr>
              <a:spcBef>
                <a:spcPts val="1200"/>
              </a:spcBef>
              <a:defRPr sz="1300">
                <a:solidFill>
                  <a:srgbClr val="646464"/>
                </a:solidFill>
              </a:defRPr>
            </a:pPr>
            <a:r>
              <a:t>createRemotePrintOrder() saves photo array &amp; shipping address into Supabase.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</a:defRPr>
            </a:pPr>
            <a:r>
              <a:t>Step 3: POD Lab Dispatch</a:t>
            </a:r>
          </a:p>
          <a:p>
            <a:pPr>
              <a:spcBef>
                <a:spcPts val="1200"/>
              </a:spcBef>
              <a:defRPr sz="1300">
                <a:solidFill>
                  <a:srgbClr val="646464"/>
                </a:solidFill>
              </a:defRPr>
            </a:pPr>
            <a:r>
              <a:t>sendOrderToPrintPartner() compiles photo URLs &amp; dispatches print job to Prodigi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5603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01168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</a:defRPr>
            </a:pPr>
            <a:r>
              <a:t>Step 4: Push Notification</a:t>
            </a:r>
          </a:p>
          <a:p>
            <a:pPr>
              <a:spcBef>
                <a:spcPts val="1200"/>
              </a:spcBef>
              <a:defRPr sz="1300">
                <a:solidFill>
                  <a:srgbClr val="646464"/>
                </a:solidFill>
              </a:defRPr>
            </a:pPr>
            <a:r>
              <a:t>triggerLocalPushNotification() sends instant OS push banner with tracking 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6464"/>
                </a:solidFill>
              </a:defRPr>
            </a:pPr>
            <a:r>
              <a:t>FRAMES APP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1A1A"/>
                </a:solidFill>
              </a:defRPr>
            </a:pPr>
            <a:r>
              <a:t>5. Project Execution &amp; Deployment Commands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</a:defRPr>
            </a:pPr>
            <a:r>
              <a:t>Local Web App:  npx expo start --web</a:t>
            </a:r>
          </a:p>
          <a:p>
            <a:pPr>
              <a:spcBef>
                <a:spcPts val="400"/>
              </a:spcBef>
              <a:defRPr sz="1300">
                <a:solidFill>
                  <a:srgbClr val="646464"/>
                </a:solidFill>
              </a:defRPr>
            </a:pPr>
            <a:r>
              <a:t>Runs local web app server on port 8081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07208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</a:defRPr>
            </a:pPr>
            <a:r>
              <a:t>Expo Go (Mobile):  npx expo start --port 8082</a:t>
            </a:r>
          </a:p>
          <a:p>
            <a:pPr>
              <a:spcBef>
                <a:spcPts val="400"/>
              </a:spcBef>
              <a:defRPr sz="1300">
                <a:solidFill>
                  <a:srgbClr val="646464"/>
                </a:solidFill>
              </a:defRPr>
            </a:pPr>
            <a:r>
              <a:t>Connects to Expo Go mobile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41648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</a:defRPr>
            </a:pPr>
            <a:r>
              <a:t>Vercel Web Build:  npx pnpm --filter @frames/mobile build</a:t>
            </a:r>
          </a:p>
          <a:p>
            <a:pPr>
              <a:spcBef>
                <a:spcPts val="400"/>
              </a:spcBef>
              <a:defRPr sz="1300">
                <a:solidFill>
                  <a:srgbClr val="646464"/>
                </a:solidFill>
              </a:defRPr>
            </a:pPr>
            <a:r>
              <a:t>Compiles SPA export into dist/ folder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76088"/>
            <a:ext cx="101800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1A1A"/>
                </a:solidFill>
              </a:defRPr>
            </a:pPr>
            <a:r>
              <a:t>EAS OTA Update:  npx eas-cli update --branch preview</a:t>
            </a:r>
          </a:p>
          <a:p>
            <a:pPr>
              <a:spcBef>
                <a:spcPts val="400"/>
              </a:spcBef>
              <a:defRPr sz="1300">
                <a:solidFill>
                  <a:srgbClr val="646464"/>
                </a:solidFill>
              </a:defRPr>
            </a:pPr>
            <a:r>
              <a:t>Publishes instant Over-The-Air JS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